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SHAAN SPEAKS:</a:t>
            </a:r>
            <a:br>
              <a:rPr lang="en-US"/>
            </a:br>
            <a:r>
              <a:rPr lang="en-US"/>
              <a:t>Hi everyone, we are Shaan Patel, Tammar Reza, and Logan Howard. Our project is about how food prices in the United States have changed over time. Today we will share what we are exploring, the data we plan to use, one early idea we have, one challenge we have faced, and our next steps. This is still a work in progress, so we will also talk about what comes next.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SHAAN SPEAKS:</a:t>
            </a:r>
            <a:br>
              <a:rPr lang="en-US"/>
            </a:br>
            <a:r>
              <a:rPr lang="en-US"/>
              <a:t>Our project looks at how food prices in the U.S. have changed over time. We are mainly comparing groceries with restaurant prices. We also want to look at major food categories to see which ones changed the most. Some of our main questions are which category increased the most, whether grocery and restaurant prices moved differently, and whether there were certain years when prices rose much faster. Grocery prices and restaurant prices do not follow the exact same pattern, so we want to study those differences more closely.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LOGAN SPEAKS:</a:t>
            </a:r>
            <a:br>
              <a:rPr lang="en-US"/>
            </a:br>
            <a:r>
              <a:rPr lang="en-US"/>
              <a:t>We plan to use public data from three sources: the Bureau of Labor Statistics Consumer Price Index, FRED from the Federal Reserve, and the USDA Economic Research Service. We chose this topic because food prices affect everyone, so it is easy to connect to everyday life. It also gives us strong trends to explore with graphs and tables, and it is great practice for working with real data in R.</a:t>
            </a:r>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TAMMAR SPEAKS:</a:t>
            </a:r>
            <a:br>
              <a:rPr lang="en-US"/>
            </a:br>
            <a:r>
              <a:rPr lang="en-US"/>
              <a:t>One early idea we have is that grocery prices and restaurant prices may not move the same way over time. We also think some food categories increased faster than others, and prices probably went up more sharply in recent years. One challenge has been deciding which categories and sources to focus on, while also making sure the data is organized in a way that makes comparisons easy.</a:t>
            </a:r>
            <a:endParaRPr/>
          </a:p>
        </p:txBody>
      </p:sp>
      <p:sp>
        <p:nvSpPr>
          <p:cNvPr id="53" name="Google Shape;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b559cbb6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g3db559cbb6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g3db559cbb6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15" name="Shape 15"/>
        <p:cNvGrpSpPr/>
        <p:nvPr/>
      </p:nvGrpSpPr>
      <p:grpSpPr>
        <a:xfrm>
          <a:off x="0" y="0"/>
          <a:ext cx="0" cy="0"/>
          <a:chOff x="0" y="0"/>
          <a:chExt cx="0" cy="0"/>
        </a:xfrm>
      </p:grpSpPr>
      <p:sp>
        <p:nvSpPr>
          <p:cNvPr id="16" name="Google Shape;16;p3"/>
          <p:cNvSpPr/>
          <p:nvPr/>
        </p:nvSpPr>
        <p:spPr>
          <a:xfrm>
            <a:off x="0" y="0"/>
            <a:ext cx="164592" cy="5143500"/>
          </a:xfrm>
          <a:prstGeom prst="rect">
            <a:avLst/>
          </a:prstGeom>
          <a:solidFill>
            <a:srgbClr val="E8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457200" y="960120"/>
            <a:ext cx="8229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Georgia"/>
              <a:buNone/>
            </a:pPr>
            <a:r>
              <a:rPr b="1" i="0" lang="en-US" sz="4200" u="none" cap="none" strike="noStrike">
                <a:solidFill>
                  <a:srgbClr val="FFFFFF"/>
                </a:solidFill>
                <a:latin typeface="Georgia"/>
                <a:ea typeface="Georgia"/>
                <a:cs typeface="Georgia"/>
                <a:sym typeface="Georgia"/>
              </a:rPr>
              <a:t>Food Price Changes</a:t>
            </a:r>
            <a:endParaRPr b="0" i="0" sz="4200" u="none" cap="none" strike="noStrike">
              <a:solidFill>
                <a:schemeClr val="dk1"/>
              </a:solidFill>
              <a:latin typeface="Calibri"/>
              <a:ea typeface="Calibri"/>
              <a:cs typeface="Calibri"/>
              <a:sym typeface="Calibri"/>
            </a:endParaRPr>
          </a:p>
        </p:txBody>
      </p:sp>
      <p:sp>
        <p:nvSpPr>
          <p:cNvPr id="18" name="Google Shape;18;p3"/>
          <p:cNvSpPr/>
          <p:nvPr/>
        </p:nvSpPr>
        <p:spPr>
          <a:xfrm>
            <a:off x="457200" y="1737360"/>
            <a:ext cx="8229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4E8"/>
              </a:buClr>
              <a:buSzPts val="2800"/>
              <a:buFont typeface="Georgia"/>
              <a:buNone/>
            </a:pPr>
            <a:r>
              <a:rPr b="0" i="0" lang="en-US" sz="2800" u="none" cap="none" strike="noStrike">
                <a:solidFill>
                  <a:srgbClr val="A8C4E8"/>
                </a:solidFill>
                <a:latin typeface="Georgia"/>
                <a:ea typeface="Georgia"/>
                <a:cs typeface="Georgia"/>
                <a:sym typeface="Georgia"/>
              </a:rPr>
              <a:t>Over Time in the United States</a:t>
            </a:r>
            <a:endParaRPr b="0" i="0" sz="2800" u="none" cap="none" strike="noStrike">
              <a:solidFill>
                <a:schemeClr val="dk1"/>
              </a:solidFill>
              <a:latin typeface="Calibri"/>
              <a:ea typeface="Calibri"/>
              <a:cs typeface="Calibri"/>
              <a:sym typeface="Calibri"/>
            </a:endParaRPr>
          </a:p>
        </p:txBody>
      </p:sp>
      <p:sp>
        <p:nvSpPr>
          <p:cNvPr id="19" name="Google Shape;19;p3"/>
          <p:cNvSpPr/>
          <p:nvPr/>
        </p:nvSpPr>
        <p:spPr>
          <a:xfrm>
            <a:off x="457200" y="2542032"/>
            <a:ext cx="5486400" cy="36576"/>
          </a:xfrm>
          <a:prstGeom prst="rect">
            <a:avLst/>
          </a:prstGeom>
          <a:solidFill>
            <a:srgbClr val="E8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457200" y="2743200"/>
            <a:ext cx="6400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4E8"/>
              </a:buClr>
              <a:buSzPts val="1450"/>
              <a:buFont typeface="Calibri"/>
              <a:buNone/>
            </a:pPr>
            <a:r>
              <a:rPr b="0" i="0" lang="en-US" sz="1450" u="none" cap="none" strike="noStrike">
                <a:solidFill>
                  <a:srgbClr val="A8C4E8"/>
                </a:solidFill>
                <a:latin typeface="Calibri"/>
                <a:ea typeface="Calibri"/>
                <a:cs typeface="Calibri"/>
                <a:sym typeface="Calibri"/>
              </a:rPr>
              <a:t>Stat 184  ·  Work</a:t>
            </a:r>
            <a:r>
              <a:rPr lang="en-US" sz="1450">
                <a:solidFill>
                  <a:srgbClr val="A8C4E8"/>
                </a:solidFill>
                <a:latin typeface="Calibri"/>
                <a:ea typeface="Calibri"/>
                <a:cs typeface="Calibri"/>
                <a:sym typeface="Calibri"/>
              </a:rPr>
              <a:t> </a:t>
            </a:r>
            <a:r>
              <a:rPr b="0" i="0" lang="en-US" sz="1450" u="none" cap="none" strike="noStrike">
                <a:solidFill>
                  <a:srgbClr val="A8C4E8"/>
                </a:solidFill>
                <a:latin typeface="Calibri"/>
                <a:ea typeface="Calibri"/>
                <a:cs typeface="Calibri"/>
                <a:sym typeface="Calibri"/>
              </a:rPr>
              <a:t>in</a:t>
            </a:r>
            <a:r>
              <a:rPr lang="en-US" sz="1450">
                <a:solidFill>
                  <a:srgbClr val="A8C4E8"/>
                </a:solidFill>
                <a:latin typeface="Calibri"/>
                <a:ea typeface="Calibri"/>
                <a:cs typeface="Calibri"/>
                <a:sym typeface="Calibri"/>
              </a:rPr>
              <a:t> </a:t>
            </a:r>
            <a:r>
              <a:rPr b="0" i="0" lang="en-US" sz="1450" u="none" cap="none" strike="noStrike">
                <a:solidFill>
                  <a:srgbClr val="A8C4E8"/>
                </a:solidFill>
                <a:latin typeface="Calibri"/>
                <a:ea typeface="Calibri"/>
                <a:cs typeface="Calibri"/>
                <a:sym typeface="Calibri"/>
              </a:rPr>
              <a:t>Progress Presentation</a:t>
            </a:r>
            <a:endParaRPr b="0" i="0" sz="1450" u="none" cap="none" strike="noStrike">
              <a:solidFill>
                <a:schemeClr val="dk1"/>
              </a:solidFill>
              <a:latin typeface="Calibri"/>
              <a:ea typeface="Calibri"/>
              <a:cs typeface="Calibri"/>
              <a:sym typeface="Calibri"/>
            </a:endParaRPr>
          </a:p>
        </p:txBody>
      </p:sp>
      <p:sp>
        <p:nvSpPr>
          <p:cNvPr id="21" name="Google Shape;21;p3"/>
          <p:cNvSpPr/>
          <p:nvPr/>
        </p:nvSpPr>
        <p:spPr>
          <a:xfrm>
            <a:off x="457200" y="3182112"/>
            <a:ext cx="64008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Shaan Patel</a:t>
            </a:r>
            <a:r>
              <a:rPr b="1" lang="en-US" sz="1600">
                <a:solidFill>
                  <a:srgbClr val="FFFFFF"/>
                </a:solidFill>
                <a:latin typeface="Calibri"/>
                <a:ea typeface="Calibri"/>
                <a:cs typeface="Calibri"/>
                <a:sym typeface="Calibri"/>
              </a:rPr>
              <a:t>, </a:t>
            </a:r>
            <a:r>
              <a:rPr b="1" i="0" lang="en-US" sz="1600" u="none" cap="none" strike="noStrike">
                <a:solidFill>
                  <a:srgbClr val="FFFFFF"/>
                </a:solidFill>
                <a:latin typeface="Calibri"/>
                <a:ea typeface="Calibri"/>
                <a:cs typeface="Calibri"/>
                <a:sym typeface="Calibri"/>
              </a:rPr>
              <a:t>Tammar Reza, &amp; Logan Howard</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6" name="Shape 26"/>
        <p:cNvGrpSpPr/>
        <p:nvPr/>
      </p:nvGrpSpPr>
      <p:grpSpPr>
        <a:xfrm>
          <a:off x="0" y="0"/>
          <a:ext cx="0" cy="0"/>
          <a:chOff x="0" y="0"/>
          <a:chExt cx="0" cy="0"/>
        </a:xfrm>
      </p:grpSpPr>
      <p:sp>
        <p:nvSpPr>
          <p:cNvPr id="27" name="Google Shape;27;p4"/>
          <p:cNvSpPr/>
          <p:nvPr/>
        </p:nvSpPr>
        <p:spPr>
          <a:xfrm>
            <a:off x="0" y="0"/>
            <a:ext cx="164592" cy="5143500"/>
          </a:xfrm>
          <a:prstGeom prst="rect">
            <a:avLst/>
          </a:prstGeom>
          <a:solidFill>
            <a:srgbClr val="1B3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8503920" y="228600"/>
            <a:ext cx="384048" cy="384048"/>
          </a:xfrm>
          <a:prstGeom prst="ellipse">
            <a:avLst/>
          </a:prstGeom>
          <a:solidFill>
            <a:srgbClr val="E8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8503920" y="2286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0" name="Google Shape;30;p4"/>
          <p:cNvSpPr/>
          <p:nvPr/>
        </p:nvSpPr>
        <p:spPr>
          <a:xfrm>
            <a:off x="411480" y="228600"/>
            <a:ext cx="77724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Georgia"/>
              <a:buNone/>
            </a:pPr>
            <a:r>
              <a:rPr b="1" i="0" lang="en-US" sz="2800" u="none" cap="none" strike="noStrike">
                <a:solidFill>
                  <a:srgbClr val="1B3A6B"/>
                </a:solidFill>
                <a:latin typeface="Georgia"/>
                <a:ea typeface="Georgia"/>
                <a:cs typeface="Georgia"/>
                <a:sym typeface="Georgia"/>
              </a:rPr>
              <a:t>What We Are Exploring</a:t>
            </a:r>
            <a:endParaRPr b="0" i="0" sz="2800" u="none" cap="none" strike="noStrike">
              <a:solidFill>
                <a:schemeClr val="dk1"/>
              </a:solidFill>
              <a:latin typeface="Calibri"/>
              <a:ea typeface="Calibri"/>
              <a:cs typeface="Calibri"/>
              <a:sym typeface="Calibri"/>
            </a:endParaRPr>
          </a:p>
        </p:txBody>
      </p:sp>
      <p:sp>
        <p:nvSpPr>
          <p:cNvPr id="31" name="Google Shape;31;p4"/>
          <p:cNvSpPr/>
          <p:nvPr/>
        </p:nvSpPr>
        <p:spPr>
          <a:xfrm>
            <a:off x="347472" y="932688"/>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934A"/>
              </a:buClr>
              <a:buSzPts val="1100"/>
              <a:buFont typeface="Calibri"/>
              <a:buNone/>
            </a:pPr>
            <a:r>
              <a:rPr b="1" i="0" lang="en-US" sz="1100" u="none" cap="none" strike="noStrike">
                <a:solidFill>
                  <a:srgbClr val="E8934A"/>
                </a:solidFill>
                <a:latin typeface="Calibri"/>
                <a:ea typeface="Calibri"/>
                <a:cs typeface="Calibri"/>
                <a:sym typeface="Calibri"/>
              </a:rPr>
              <a:t>OUR TOPIC</a:t>
            </a:r>
            <a:endParaRPr b="0" i="0" sz="1100" u="none" cap="none" strike="noStrike">
              <a:solidFill>
                <a:schemeClr val="dk1"/>
              </a:solidFill>
              <a:latin typeface="Calibri"/>
              <a:ea typeface="Calibri"/>
              <a:cs typeface="Calibri"/>
              <a:sym typeface="Calibri"/>
            </a:endParaRPr>
          </a:p>
        </p:txBody>
      </p:sp>
      <p:sp>
        <p:nvSpPr>
          <p:cNvPr id="32" name="Google Shape;32;p4"/>
          <p:cNvSpPr/>
          <p:nvPr/>
        </p:nvSpPr>
        <p:spPr>
          <a:xfrm>
            <a:off x="347472" y="1243584"/>
            <a:ext cx="3840480" cy="1417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How food prices in the U.S. have changed over time</a:t>
            </a:r>
            <a:endParaRPr b="0" i="0" sz="13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Comparing food at home (groceries) vs. food away from home (restaurants)</a:t>
            </a:r>
            <a:endParaRPr b="0" i="0" sz="13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Major food categories: fruits &amp; vegetables, meat, dairy, bakery</a:t>
            </a:r>
            <a:endParaRPr b="0" i="0" sz="1300" u="none" cap="none" strike="noStrike">
              <a:solidFill>
                <a:schemeClr val="dk1"/>
              </a:solidFill>
              <a:latin typeface="Calibri"/>
              <a:ea typeface="Calibri"/>
              <a:cs typeface="Calibri"/>
              <a:sym typeface="Calibri"/>
            </a:endParaRPr>
          </a:p>
        </p:txBody>
      </p:sp>
      <p:sp>
        <p:nvSpPr>
          <p:cNvPr id="33" name="Google Shape;33;p4"/>
          <p:cNvSpPr/>
          <p:nvPr/>
        </p:nvSpPr>
        <p:spPr>
          <a:xfrm>
            <a:off x="347472" y="278892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934A"/>
              </a:buClr>
              <a:buSzPts val="1100"/>
              <a:buFont typeface="Calibri"/>
              <a:buNone/>
            </a:pPr>
            <a:r>
              <a:rPr b="1" i="0" lang="en-US" sz="1100" u="none" cap="none" strike="noStrike">
                <a:solidFill>
                  <a:srgbClr val="E8934A"/>
                </a:solidFill>
                <a:latin typeface="Calibri"/>
                <a:ea typeface="Calibri"/>
                <a:cs typeface="Calibri"/>
                <a:sym typeface="Calibri"/>
              </a:rPr>
              <a:t>MAIN QUESTIONS</a:t>
            </a:r>
            <a:endParaRPr b="0" i="0" sz="1100" u="none" cap="none" strike="noStrike">
              <a:solidFill>
                <a:schemeClr val="dk1"/>
              </a:solidFill>
              <a:latin typeface="Calibri"/>
              <a:ea typeface="Calibri"/>
              <a:cs typeface="Calibri"/>
              <a:sym typeface="Calibri"/>
            </a:endParaRPr>
          </a:p>
        </p:txBody>
      </p:sp>
      <p:sp>
        <p:nvSpPr>
          <p:cNvPr id="34" name="Google Shape;34;p4"/>
          <p:cNvSpPr/>
          <p:nvPr/>
        </p:nvSpPr>
        <p:spPr>
          <a:xfrm>
            <a:off x="347472" y="3090672"/>
            <a:ext cx="3840480" cy="1600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Which food categories increased the most?</a:t>
            </a:r>
            <a:endParaRPr b="0" i="0" sz="13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Did grocery and restaurant prices rise at different rates?</a:t>
            </a:r>
            <a:endParaRPr b="0" i="0" sz="13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Were there years when prices increased especially fast?</a:t>
            </a:r>
            <a:endParaRPr b="0" i="0" sz="1300" u="none" cap="none" strike="noStrike">
              <a:solidFill>
                <a:schemeClr val="dk1"/>
              </a:solidFill>
              <a:latin typeface="Calibri"/>
              <a:ea typeface="Calibri"/>
              <a:cs typeface="Calibri"/>
              <a:sym typeface="Calibri"/>
            </a:endParaRPr>
          </a:p>
        </p:txBody>
      </p:sp>
      <p:pic>
        <p:nvPicPr>
          <p:cNvPr id="35" name="Google Shape;35;p4"/>
          <p:cNvPicPr preferRelativeResize="0"/>
          <p:nvPr/>
        </p:nvPicPr>
        <p:blipFill>
          <a:blip r:embed="rId3">
            <a:alphaModFix/>
          </a:blip>
          <a:stretch>
            <a:fillRect/>
          </a:stretch>
        </p:blipFill>
        <p:spPr>
          <a:xfrm>
            <a:off x="4187950" y="914400"/>
            <a:ext cx="4678449" cy="37764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40" name="Shape 40"/>
        <p:cNvGrpSpPr/>
        <p:nvPr/>
      </p:nvGrpSpPr>
      <p:grpSpPr>
        <a:xfrm>
          <a:off x="0" y="0"/>
          <a:ext cx="0" cy="0"/>
          <a:chOff x="0" y="0"/>
          <a:chExt cx="0" cy="0"/>
        </a:xfrm>
      </p:grpSpPr>
      <p:sp>
        <p:nvSpPr>
          <p:cNvPr id="41" name="Google Shape;41;p5"/>
          <p:cNvSpPr/>
          <p:nvPr/>
        </p:nvSpPr>
        <p:spPr>
          <a:xfrm>
            <a:off x="0" y="0"/>
            <a:ext cx="164592" cy="5143500"/>
          </a:xfrm>
          <a:prstGeom prst="rect">
            <a:avLst/>
          </a:prstGeom>
          <a:solidFill>
            <a:srgbClr val="1B3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8503920" y="228600"/>
            <a:ext cx="384048" cy="384048"/>
          </a:xfrm>
          <a:prstGeom prst="ellipse">
            <a:avLst/>
          </a:prstGeom>
          <a:solidFill>
            <a:srgbClr val="E8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503920" y="2286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4" name="Google Shape;44;p5"/>
          <p:cNvSpPr/>
          <p:nvPr/>
        </p:nvSpPr>
        <p:spPr>
          <a:xfrm>
            <a:off x="411480" y="228600"/>
            <a:ext cx="77724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Georgia"/>
              <a:buNone/>
            </a:pPr>
            <a:r>
              <a:rPr b="1" i="0" lang="en-US" sz="2800" u="none" cap="none" strike="noStrike">
                <a:solidFill>
                  <a:srgbClr val="1B3A6B"/>
                </a:solidFill>
                <a:latin typeface="Georgia"/>
                <a:ea typeface="Georgia"/>
                <a:cs typeface="Georgia"/>
                <a:sym typeface="Georgia"/>
              </a:rPr>
              <a:t>Data Sources &amp; Why This Topic</a:t>
            </a:r>
            <a:endParaRPr b="0" i="0" sz="2800" u="none" cap="none" strike="noStrike">
              <a:solidFill>
                <a:schemeClr val="dk1"/>
              </a:solidFill>
              <a:latin typeface="Calibri"/>
              <a:ea typeface="Calibri"/>
              <a:cs typeface="Calibri"/>
              <a:sym typeface="Calibri"/>
            </a:endParaRPr>
          </a:p>
        </p:txBody>
      </p:sp>
      <p:sp>
        <p:nvSpPr>
          <p:cNvPr id="45" name="Google Shape;45;p5"/>
          <p:cNvSpPr/>
          <p:nvPr/>
        </p:nvSpPr>
        <p:spPr>
          <a:xfrm>
            <a:off x="347472" y="960120"/>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934A"/>
              </a:buClr>
              <a:buSzPts val="1100"/>
              <a:buFont typeface="Calibri"/>
              <a:buNone/>
            </a:pPr>
            <a:r>
              <a:rPr b="1" i="0" lang="en-US" sz="1100" u="none" cap="none" strike="noStrike">
                <a:solidFill>
                  <a:srgbClr val="E8934A"/>
                </a:solidFill>
                <a:latin typeface="Calibri"/>
                <a:ea typeface="Calibri"/>
                <a:cs typeface="Calibri"/>
                <a:sym typeface="Calibri"/>
              </a:rPr>
              <a:t>DATA SOURCES</a:t>
            </a:r>
            <a:endParaRPr b="0" i="0" sz="1100" u="none" cap="none" strike="noStrike">
              <a:solidFill>
                <a:schemeClr val="dk1"/>
              </a:solidFill>
              <a:latin typeface="Calibri"/>
              <a:ea typeface="Calibri"/>
              <a:cs typeface="Calibri"/>
              <a:sym typeface="Calibri"/>
            </a:endParaRPr>
          </a:p>
        </p:txBody>
      </p:sp>
      <p:sp>
        <p:nvSpPr>
          <p:cNvPr id="46" name="Google Shape;46;p5"/>
          <p:cNvSpPr/>
          <p:nvPr/>
        </p:nvSpPr>
        <p:spPr>
          <a:xfrm>
            <a:off x="347472" y="1298448"/>
            <a:ext cx="4023360" cy="914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D3748"/>
              </a:buClr>
              <a:buSzPts val="1300"/>
              <a:buFont typeface="Calibri"/>
              <a:buChar char="•"/>
            </a:pPr>
            <a:r>
              <a:rPr b="1" lang="en-US" sz="1300">
                <a:solidFill>
                  <a:srgbClr val="2D3748"/>
                </a:solidFill>
                <a:latin typeface="Calibri"/>
                <a:ea typeface="Calibri"/>
                <a:cs typeface="Calibri"/>
                <a:sym typeface="Calibri"/>
              </a:rPr>
              <a:t>Bureau</a:t>
            </a:r>
            <a:r>
              <a:rPr b="1" lang="en-US" sz="1300">
                <a:solidFill>
                  <a:srgbClr val="2D3748"/>
                </a:solidFill>
                <a:latin typeface="Calibri"/>
                <a:ea typeface="Calibri"/>
                <a:cs typeface="Calibri"/>
                <a:sym typeface="Calibri"/>
              </a:rPr>
              <a:t> of Labor Statistics(</a:t>
            </a:r>
            <a:r>
              <a:rPr b="1" i="0" lang="en-US" sz="1300" u="none" cap="none" strike="noStrike">
                <a:solidFill>
                  <a:srgbClr val="2D3748"/>
                </a:solidFill>
                <a:latin typeface="Calibri"/>
                <a:ea typeface="Calibri"/>
                <a:cs typeface="Calibri"/>
                <a:sym typeface="Calibri"/>
              </a:rPr>
              <a:t>BLS) Consumer Price Index (CPI)</a:t>
            </a:r>
            <a:endParaRPr b="0" i="0" sz="1300" u="none" cap="none" strike="noStrike">
              <a:solidFill>
                <a:schemeClr val="dk1"/>
              </a:solidFill>
              <a:latin typeface="Calibri"/>
              <a:ea typeface="Calibri"/>
              <a:cs typeface="Calibri"/>
              <a:sym typeface="Calibri"/>
            </a:endParaRPr>
          </a:p>
        </p:txBody>
      </p:sp>
      <p:sp>
        <p:nvSpPr>
          <p:cNvPr id="47" name="Google Shape;47;p5"/>
          <p:cNvSpPr/>
          <p:nvPr/>
        </p:nvSpPr>
        <p:spPr>
          <a:xfrm>
            <a:off x="347472" y="2359152"/>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934A"/>
              </a:buClr>
              <a:buSzPts val="1100"/>
              <a:buFont typeface="Calibri"/>
              <a:buNone/>
            </a:pPr>
            <a:r>
              <a:rPr b="1" i="0" lang="en-US" sz="1100" u="none" cap="none" strike="noStrike">
                <a:solidFill>
                  <a:srgbClr val="E8934A"/>
                </a:solidFill>
                <a:latin typeface="Calibri"/>
                <a:ea typeface="Calibri"/>
                <a:cs typeface="Calibri"/>
                <a:sym typeface="Calibri"/>
              </a:rPr>
              <a:t>WHY WE CHOSE THIS TOPIC</a:t>
            </a:r>
            <a:endParaRPr b="0" i="0" sz="1100" u="none" cap="none" strike="noStrike">
              <a:solidFill>
                <a:schemeClr val="dk1"/>
              </a:solidFill>
              <a:latin typeface="Calibri"/>
              <a:ea typeface="Calibri"/>
              <a:cs typeface="Calibri"/>
              <a:sym typeface="Calibri"/>
            </a:endParaRPr>
          </a:p>
        </p:txBody>
      </p:sp>
      <p:sp>
        <p:nvSpPr>
          <p:cNvPr id="48" name="Google Shape;48;p5"/>
          <p:cNvSpPr/>
          <p:nvPr/>
        </p:nvSpPr>
        <p:spPr>
          <a:xfrm>
            <a:off x="347472" y="2697480"/>
            <a:ext cx="4023360" cy="20116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Food prices affect everyone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Easy to connect to real life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The data has clear trends to explore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Works well for graphs, tables, and comparisons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lang="en-US" sz="1300">
                <a:solidFill>
                  <a:srgbClr val="2D3748"/>
                </a:solidFill>
                <a:latin typeface="Calibri"/>
                <a:ea typeface="Calibri"/>
                <a:cs typeface="Calibri"/>
                <a:sym typeface="Calibri"/>
              </a:rPr>
              <a:t>It gives us enough detail to make strong graphs and comparisons</a:t>
            </a:r>
            <a:endParaRPr b="0" i="0" sz="1300" u="none" cap="none" strike="noStrike">
              <a:solidFill>
                <a:schemeClr val="dk1"/>
              </a:solidFill>
              <a:latin typeface="Calibri"/>
              <a:ea typeface="Calibri"/>
              <a:cs typeface="Calibri"/>
              <a:sym typeface="Calibri"/>
            </a:endParaRPr>
          </a:p>
        </p:txBody>
      </p:sp>
      <p:pic>
        <p:nvPicPr>
          <p:cNvPr id="49" name="Google Shape;49;p5"/>
          <p:cNvPicPr preferRelativeResize="0"/>
          <p:nvPr/>
        </p:nvPicPr>
        <p:blipFill>
          <a:blip r:embed="rId3">
            <a:alphaModFix/>
          </a:blip>
          <a:stretch>
            <a:fillRect/>
          </a:stretch>
        </p:blipFill>
        <p:spPr>
          <a:xfrm>
            <a:off x="4419607" y="840090"/>
            <a:ext cx="4468369" cy="34633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4" name="Shape 54"/>
        <p:cNvGrpSpPr/>
        <p:nvPr/>
      </p:nvGrpSpPr>
      <p:grpSpPr>
        <a:xfrm>
          <a:off x="0" y="0"/>
          <a:ext cx="0" cy="0"/>
          <a:chOff x="0" y="0"/>
          <a:chExt cx="0" cy="0"/>
        </a:xfrm>
      </p:grpSpPr>
      <p:sp>
        <p:nvSpPr>
          <p:cNvPr id="55" name="Google Shape;55;p6"/>
          <p:cNvSpPr/>
          <p:nvPr/>
        </p:nvSpPr>
        <p:spPr>
          <a:xfrm>
            <a:off x="0" y="0"/>
            <a:ext cx="164592" cy="5143500"/>
          </a:xfrm>
          <a:prstGeom prst="rect">
            <a:avLst/>
          </a:prstGeom>
          <a:solidFill>
            <a:srgbClr val="1B3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8503920" y="228600"/>
            <a:ext cx="384048" cy="384048"/>
          </a:xfrm>
          <a:prstGeom prst="ellipse">
            <a:avLst/>
          </a:prstGeom>
          <a:solidFill>
            <a:srgbClr val="E8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8503920" y="2286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58" name="Google Shape;58;p6"/>
          <p:cNvSpPr/>
          <p:nvPr/>
        </p:nvSpPr>
        <p:spPr>
          <a:xfrm>
            <a:off x="411480" y="228600"/>
            <a:ext cx="77724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Georgia"/>
              <a:buNone/>
            </a:pPr>
            <a:r>
              <a:rPr b="1" i="0" lang="en-US" sz="2800" u="none" cap="none" strike="noStrike">
                <a:solidFill>
                  <a:srgbClr val="1B3A6B"/>
                </a:solidFill>
                <a:latin typeface="Georgia"/>
                <a:ea typeface="Georgia"/>
                <a:cs typeface="Georgia"/>
                <a:sym typeface="Georgia"/>
              </a:rPr>
              <a:t>Early Idea &amp; Challenge</a:t>
            </a:r>
            <a:endParaRPr b="0" i="0" sz="2800" u="none" cap="none" strike="noStrike">
              <a:solidFill>
                <a:schemeClr val="dk1"/>
              </a:solidFill>
              <a:latin typeface="Calibri"/>
              <a:ea typeface="Calibri"/>
              <a:cs typeface="Calibri"/>
              <a:sym typeface="Calibri"/>
            </a:endParaRPr>
          </a:p>
        </p:txBody>
      </p:sp>
      <p:sp>
        <p:nvSpPr>
          <p:cNvPr id="59" name="Google Shape;59;p6"/>
          <p:cNvSpPr/>
          <p:nvPr/>
        </p:nvSpPr>
        <p:spPr>
          <a:xfrm>
            <a:off x="347472" y="914400"/>
            <a:ext cx="3977640" cy="347472"/>
          </a:xfrm>
          <a:prstGeom prst="rect">
            <a:avLst/>
          </a:prstGeom>
          <a:solidFill>
            <a:srgbClr val="E8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347472" y="914400"/>
            <a:ext cx="3977640" cy="347472"/>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Early Idea</a:t>
            </a:r>
            <a:endParaRPr b="0" i="0" sz="1200" u="none" cap="none" strike="noStrike">
              <a:solidFill>
                <a:schemeClr val="dk1"/>
              </a:solidFill>
              <a:latin typeface="Calibri"/>
              <a:ea typeface="Calibri"/>
              <a:cs typeface="Calibri"/>
              <a:sym typeface="Calibri"/>
            </a:endParaRPr>
          </a:p>
        </p:txBody>
      </p:sp>
      <p:sp>
        <p:nvSpPr>
          <p:cNvPr id="61" name="Google Shape;61;p6"/>
          <p:cNvSpPr/>
          <p:nvPr/>
        </p:nvSpPr>
        <p:spPr>
          <a:xfrm>
            <a:off x="347472" y="1298448"/>
            <a:ext cx="3977640" cy="12344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Grocery and restaurant prices may follow different patterns over time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Some food categories may have increased faster than others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Prices may have risen more sharply in recent years</a:t>
            </a:r>
            <a:endParaRPr b="0" i="0" sz="1300" u="none" cap="none" strike="noStrike">
              <a:solidFill>
                <a:schemeClr val="dk1"/>
              </a:solidFill>
              <a:latin typeface="Calibri"/>
              <a:ea typeface="Calibri"/>
              <a:cs typeface="Calibri"/>
              <a:sym typeface="Calibri"/>
            </a:endParaRPr>
          </a:p>
        </p:txBody>
      </p:sp>
      <p:sp>
        <p:nvSpPr>
          <p:cNvPr id="62" name="Google Shape;62;p6"/>
          <p:cNvSpPr/>
          <p:nvPr/>
        </p:nvSpPr>
        <p:spPr>
          <a:xfrm>
            <a:off x="347472" y="2670048"/>
            <a:ext cx="3977640" cy="347472"/>
          </a:xfrm>
          <a:prstGeom prst="rect">
            <a:avLst/>
          </a:prstGeom>
          <a:solidFill>
            <a:srgbClr val="2A4F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347472" y="2670048"/>
            <a:ext cx="3977640" cy="347472"/>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Challenges</a:t>
            </a:r>
            <a:endParaRPr b="0" i="0" sz="1200" u="none" cap="none" strike="noStrike">
              <a:solidFill>
                <a:schemeClr val="dk1"/>
              </a:solidFill>
              <a:latin typeface="Calibri"/>
              <a:ea typeface="Calibri"/>
              <a:cs typeface="Calibri"/>
              <a:sym typeface="Calibri"/>
            </a:endParaRPr>
          </a:p>
        </p:txBody>
      </p:sp>
      <p:sp>
        <p:nvSpPr>
          <p:cNvPr id="64" name="Google Shape;64;p6"/>
          <p:cNvSpPr/>
          <p:nvPr/>
        </p:nvSpPr>
        <p:spPr>
          <a:xfrm>
            <a:off x="347475" y="3054100"/>
            <a:ext cx="3977700" cy="15180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Choosing which categories to focus on</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Making sure the data matches across sources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b="0" i="0" lang="en-US" sz="1300" u="none" cap="none" strike="noStrike">
                <a:solidFill>
                  <a:srgbClr val="2D3748"/>
                </a:solidFill>
                <a:latin typeface="Calibri"/>
                <a:ea typeface="Calibri"/>
                <a:cs typeface="Calibri"/>
                <a:sym typeface="Calibri"/>
              </a:rPr>
              <a:t>Organizing the data so comparisons are clear</a:t>
            </a:r>
            <a:endParaRPr b="0" i="0" sz="1300" u="none" cap="none" strike="noStrike">
              <a:solidFill>
                <a:srgbClr val="2D3748"/>
              </a:solidFill>
              <a:latin typeface="Calibri"/>
              <a:ea typeface="Calibri"/>
              <a:cs typeface="Calibri"/>
              <a:sym typeface="Calibri"/>
            </a:endParaRPr>
          </a:p>
          <a:p>
            <a:pPr indent="-342900" lvl="0" marL="342900" marR="0" rtl="0" algn="l">
              <a:spcBef>
                <a:spcPts val="600"/>
              </a:spcBef>
              <a:spcAft>
                <a:spcPts val="0"/>
              </a:spcAft>
              <a:buClr>
                <a:srgbClr val="2D3748"/>
              </a:buClr>
              <a:buSzPts val="1300"/>
              <a:buFont typeface="Calibri"/>
              <a:buChar char="•"/>
            </a:pPr>
            <a:r>
              <a:rPr lang="en-US" sz="1300">
                <a:solidFill>
                  <a:srgbClr val="2D3748"/>
                </a:solidFill>
                <a:latin typeface="Calibri"/>
                <a:ea typeface="Calibri"/>
                <a:cs typeface="Calibri"/>
                <a:sym typeface="Calibri"/>
              </a:rPr>
              <a:t>Missing or incomplete data due to government shutdowns</a:t>
            </a:r>
            <a:endParaRPr sz="1300">
              <a:solidFill>
                <a:srgbClr val="2D3748"/>
              </a:solidFill>
              <a:latin typeface="Calibri"/>
              <a:ea typeface="Calibri"/>
              <a:cs typeface="Calibri"/>
              <a:sym typeface="Calibri"/>
            </a:endParaRPr>
          </a:p>
        </p:txBody>
      </p:sp>
      <p:sp>
        <p:nvSpPr>
          <p:cNvPr id="65" name="Google Shape;65;p6"/>
          <p:cNvSpPr/>
          <p:nvPr/>
        </p:nvSpPr>
        <p:spPr>
          <a:xfrm>
            <a:off x="4480560" y="914400"/>
            <a:ext cx="4434840" cy="3977640"/>
          </a:xfrm>
          <a:prstGeom prst="rect">
            <a:avLst/>
          </a:prstGeom>
          <a:solidFill>
            <a:srgbClr val="EEF2F8"/>
          </a:solidFill>
          <a:ln cap="flat" cmpd="sng" w="19050">
            <a:solidFill>
              <a:srgbClr val="B0BDD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 name="Google Shape;66;p6"/>
          <p:cNvPicPr preferRelativeResize="0"/>
          <p:nvPr/>
        </p:nvPicPr>
        <p:blipFill>
          <a:blip r:embed="rId3">
            <a:alphaModFix/>
          </a:blip>
          <a:stretch>
            <a:fillRect/>
          </a:stretch>
        </p:blipFill>
        <p:spPr>
          <a:xfrm>
            <a:off x="4507975" y="798788"/>
            <a:ext cx="4434850" cy="408999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71" name="Shape 71"/>
        <p:cNvGrpSpPr/>
        <p:nvPr/>
      </p:nvGrpSpPr>
      <p:grpSpPr>
        <a:xfrm>
          <a:off x="0" y="0"/>
          <a:ext cx="0" cy="0"/>
          <a:chOff x="0" y="0"/>
          <a:chExt cx="0" cy="0"/>
        </a:xfrm>
      </p:grpSpPr>
      <p:sp>
        <p:nvSpPr>
          <p:cNvPr id="72" name="Google Shape;72;p7"/>
          <p:cNvSpPr/>
          <p:nvPr/>
        </p:nvSpPr>
        <p:spPr>
          <a:xfrm>
            <a:off x="0" y="0"/>
            <a:ext cx="164700" cy="5143500"/>
          </a:xfrm>
          <a:prstGeom prst="rect">
            <a:avLst/>
          </a:prstGeom>
          <a:solidFill>
            <a:srgbClr val="1B3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8503920" y="228600"/>
            <a:ext cx="384000" cy="384000"/>
          </a:xfrm>
          <a:prstGeom prst="ellipse">
            <a:avLst/>
          </a:prstGeom>
          <a:solidFill>
            <a:srgbClr val="E8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8503920" y="228600"/>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75" name="Google Shape;75;p7"/>
          <p:cNvSpPr/>
          <p:nvPr/>
        </p:nvSpPr>
        <p:spPr>
          <a:xfrm>
            <a:off x="2824798" y="1522900"/>
            <a:ext cx="3814500" cy="11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Georgia"/>
              <a:buNone/>
            </a:pPr>
            <a:r>
              <a:rPr b="1" lang="en-US" sz="4800">
                <a:solidFill>
                  <a:srgbClr val="1B3A6B"/>
                </a:solidFill>
                <a:latin typeface="Georgia"/>
                <a:ea typeface="Georgia"/>
                <a:cs typeface="Georgia"/>
                <a:sym typeface="Georgia"/>
              </a:rPr>
              <a:t>Thank You!</a:t>
            </a:r>
            <a:endParaRPr b="0" i="0" sz="4800" u="none" cap="none" strike="noStrike">
              <a:solidFill>
                <a:schemeClr val="dk1"/>
              </a:solidFill>
              <a:latin typeface="Calibri"/>
              <a:ea typeface="Calibri"/>
              <a:cs typeface="Calibri"/>
              <a:sym typeface="Calibri"/>
            </a:endParaRPr>
          </a:p>
        </p:txBody>
      </p:sp>
      <p:sp>
        <p:nvSpPr>
          <p:cNvPr id="76" name="Google Shape;76;p7"/>
          <p:cNvSpPr/>
          <p:nvPr/>
        </p:nvSpPr>
        <p:spPr>
          <a:xfrm>
            <a:off x="3563703" y="3030275"/>
            <a:ext cx="2526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Georgia"/>
              <a:buNone/>
            </a:pPr>
            <a:r>
              <a:rPr b="1" lang="en-US" sz="3200">
                <a:solidFill>
                  <a:srgbClr val="E8934A"/>
                </a:solidFill>
                <a:latin typeface="Georgia"/>
                <a:ea typeface="Georgia"/>
                <a:cs typeface="Georgia"/>
                <a:sym typeface="Georgia"/>
              </a:rPr>
              <a:t>Questions?</a:t>
            </a:r>
            <a:endParaRPr b="0" i="0" sz="3200" u="none" cap="none" strike="noStrike">
              <a:solidFill>
                <a:srgbClr val="E8934A"/>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